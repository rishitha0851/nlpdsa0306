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76" r:id="rId8"/>
    <p:sldId id="277" r:id="rId9"/>
    <p:sldId id="264" r:id="rId10"/>
    <p:sldId id="280" r:id="rId11"/>
    <p:sldId id="265" r:id="rId12"/>
    <p:sldId id="281" r:id="rId13"/>
    <p:sldId id="271" r:id="rId14"/>
    <p:sldId id="282" r:id="rId15"/>
    <p:sldId id="275" r:id="rId16"/>
    <p:sldId id="283" r:id="rId17"/>
    <p:sldId id="268" r:id="rId18"/>
    <p:sldId id="279" r:id="rId19"/>
    <p:sldId id="270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6" autoAdjust="0"/>
    <p:restoredTop sz="94660"/>
  </p:normalViewPr>
  <p:slideViewPr>
    <p:cSldViewPr showGuides="1">
      <p:cViewPr varScale="1">
        <p:scale>
          <a:sx n="74" d="100"/>
          <a:sy n="74" d="100"/>
        </p:scale>
        <p:origin x="104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01019" y="95849"/>
            <a:ext cx="746950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2168" y="1439453"/>
            <a:ext cx="10647662" cy="4719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89811" y="248443"/>
            <a:ext cx="9982200" cy="12431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1600" y="2166105"/>
            <a:ext cx="9296400" cy="476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27195" marR="5080" indent="-4215130" algn="just">
              <a:lnSpc>
                <a:spcPct val="103000"/>
              </a:lnSpc>
            </a:pPr>
            <a:r>
              <a:rPr lang="en-US" sz="3200" dirty="0"/>
              <a:t>DSA0306-NATURAL LANGUAGE PROCESSTING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98534" y="3019685"/>
            <a:ext cx="11994931" cy="95795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lang="en-US" sz="2800" b="1" spc="-3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Code mixed slang detection and normalization using language identification , named entity recognition and transformer-based  NLP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4890482"/>
            <a:ext cx="4495800" cy="196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390" marR="191135" indent="-635" algn="ctr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1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IN" sz="1800" b="1" spc="-25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IN" sz="1800" b="1" spc="-25" dirty="0">
              <a:latin typeface="Times New Roman" panose="02020603050405020304"/>
              <a:cs typeface="Times New Roman" panose="02020603050405020304"/>
            </a:endParaRPr>
          </a:p>
          <a:p>
            <a:pPr algn="ctr" rtl="0" fontAlgn="ctr"/>
            <a:r>
              <a:rPr lang="en-IN" sz="1800" dirty="0"/>
              <a:t>192424159</a:t>
            </a:r>
            <a:r>
              <a:rPr lang="en-IN" dirty="0"/>
              <a:t>-</a:t>
            </a:r>
            <a:r>
              <a:rPr lang="en-IN" sz="1800" dirty="0"/>
              <a:t>S.Padmaja</a:t>
            </a:r>
            <a:endParaRPr lang="en-IN" sz="1800" dirty="0"/>
          </a:p>
          <a:p>
            <a:pPr algn="ctr" rtl="0" fontAlgn="ctr"/>
            <a:r>
              <a:rPr lang="en-IN" sz="1800" dirty="0"/>
              <a:t>192424335</a:t>
            </a:r>
            <a:r>
              <a:rPr lang="en-IN" dirty="0"/>
              <a:t>-</a:t>
            </a:r>
            <a:r>
              <a:rPr lang="en-US" altLang="en-IN" dirty="0"/>
              <a:t> M. </a:t>
            </a:r>
            <a:r>
              <a:rPr lang="en-IN" sz="1800" dirty="0"/>
              <a:t>Rishitha </a:t>
            </a:r>
            <a:endParaRPr lang="en-IN" dirty="0"/>
          </a:p>
          <a:p>
            <a:pPr algn="ctr" rtl="0" fontAlgn="ctr"/>
            <a:r>
              <a:rPr lang="en-IN" sz="1800" dirty="0"/>
              <a:t>192425189</a:t>
            </a:r>
            <a:r>
              <a:rPr lang="en-IN" dirty="0"/>
              <a:t>-</a:t>
            </a:r>
            <a:r>
              <a:rPr lang="en-IN" sz="1800" dirty="0"/>
              <a:t>M.</a:t>
            </a:r>
            <a:r>
              <a:rPr lang="en-US" altLang="en-IN" sz="1800" dirty="0"/>
              <a:t>M</a:t>
            </a:r>
            <a:r>
              <a:rPr lang="en-IN" sz="1800" dirty="0"/>
              <a:t>anasa</a:t>
            </a:r>
            <a:endParaRPr lang="en-IN" sz="1800" dirty="0"/>
          </a:p>
          <a:p>
            <a:pPr algn="ctr" rtl="0" fontAlgn="ctr"/>
            <a:r>
              <a:rPr lang="en-IN" sz="1800" dirty="0"/>
              <a:t>192424276</a:t>
            </a:r>
            <a:r>
              <a:rPr lang="en-US" altLang="en-IN" sz="1800" dirty="0"/>
              <a:t> </a:t>
            </a:r>
            <a:r>
              <a:rPr lang="en-IN" dirty="0"/>
              <a:t>-</a:t>
            </a:r>
            <a:r>
              <a:rPr lang="en-US" altLang="en-IN" dirty="0"/>
              <a:t> K</a:t>
            </a:r>
            <a:r>
              <a:rPr lang="en-IN" sz="1800" dirty="0"/>
              <a:t>.</a:t>
            </a:r>
            <a:r>
              <a:rPr lang="en-US" altLang="en-IN" sz="1800" dirty="0"/>
              <a:t> V</a:t>
            </a:r>
            <a:r>
              <a:rPr lang="en-IN" sz="1800" dirty="0"/>
              <a:t>imala</a:t>
            </a:r>
            <a:endParaRPr lang="en-IN" dirty="0"/>
          </a:p>
          <a:p>
            <a:pPr marL="199390" marR="191135" indent="-635" algn="ctr">
              <a:lnSpc>
                <a:spcPct val="150000"/>
              </a:lnSpc>
              <a:spcBef>
                <a:spcPts val="100"/>
              </a:spcBef>
            </a:pPr>
            <a:endParaRPr lang="en-US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10600" y="4923790"/>
            <a:ext cx="2760345" cy="1224915"/>
          </a:xfrm>
          <a:prstGeom prst="rect">
            <a:avLst/>
          </a:prstGeom>
        </p:spPr>
        <p:txBody>
          <a:bodyPr vert="horz" wrap="square" lIns="0" tIns="182880" rIns="0" bIns="0" rtlCol="0">
            <a:noAutofit/>
          </a:bodyPr>
          <a:lstStyle/>
          <a:p>
            <a:pPr marL="635" algn="ctr">
              <a:lnSpc>
                <a:spcPct val="100000"/>
              </a:lnSpc>
              <a:spcBef>
                <a:spcPts val="144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IN" sz="2000" b="1" spc="-25" dirty="0">
                <a:latin typeface="Times New Roman" panose="02020603050405020304"/>
                <a:cs typeface="Times New Roman" panose="02020603050405020304"/>
              </a:rPr>
              <a:t>: </a:t>
            </a:r>
            <a:endParaRPr sz="2000" b="1" dirty="0">
              <a:latin typeface="Times New Roman" panose="02020603050405020304"/>
              <a:cs typeface="Times New Roman" panose="02020603050405020304"/>
            </a:endParaRPr>
          </a:p>
          <a:p>
            <a:pPr marL="12700" marR="5080" algn="ctr">
              <a:lnSpc>
                <a:spcPct val="150000"/>
              </a:lnSpc>
              <a:spcBef>
                <a:spcPts val="130"/>
              </a:spcBef>
            </a:pPr>
            <a:r>
              <a:rPr sz="1800" b="1" dirty="0" err="1">
                <a:latin typeface="Times New Roman" panose="02020603050405020304"/>
                <a:cs typeface="Times New Roman" panose="02020603050405020304"/>
              </a:rPr>
              <a:t>Dr.</a:t>
            </a:r>
            <a:r>
              <a:rPr lang="en-US" altLang="" sz="1800" b="1" dirty="0" err="1">
                <a:latin typeface="Times New Roman" panose="02020603050405020304"/>
                <a:cs typeface="Times New Roman" panose="02020603050405020304"/>
              </a:rPr>
              <a:t> T. </a:t>
            </a:r>
            <a:r>
              <a:rPr lang="en-US" b="1" dirty="0" err="1">
                <a:latin typeface="Times New Roman" panose="02020603050405020304"/>
                <a:cs typeface="Times New Roman" panose="02020603050405020304"/>
              </a:rPr>
              <a:t>Kumaragurubaran 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1626"/>
            <a:ext cx="1438070" cy="12346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01019" y="95849"/>
            <a:ext cx="7469505" cy="922565"/>
          </a:xfrm>
          <a:prstGeom prst="rect">
            <a:avLst/>
          </a:prstGeom>
        </p:spPr>
        <p:txBody>
          <a:bodyPr vert="horz" wrap="square" lIns="0" tIns="304043" rIns="0" bIns="0" rtlCol="0">
            <a:spAutoFit/>
          </a:bodyPr>
          <a:lstStyle/>
          <a:p>
            <a:pPr marL="25349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  <a:endParaRPr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5765" y="1585913"/>
            <a:ext cx="11318875" cy="507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0" dirty="0"/>
              <a:t>Detects and normalizes slang words in code-mixed multilingual text (e.g., English–Tamil, English–Hindi). </a:t>
            </a:r>
            <a:endParaRPr lang="en-IN" sz="2000" b="0" dirty="0"/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0" dirty="0"/>
              <a:t>Uses Language Identification (LID) to identify the language of each word in the input text. </a:t>
            </a:r>
            <a:endParaRPr lang="en-IN" sz="2000" b="0" dirty="0"/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0" dirty="0"/>
              <a:t>Applies Named Entity Recognition (NER) to recognize names of people, places, organizations, and preserve them during normalization. </a:t>
            </a:r>
            <a:endParaRPr lang="en-IN" sz="2000" b="0" dirty="0"/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0" dirty="0"/>
              <a:t>Employs Transformer-based NLP models (e.g., BERT/</a:t>
            </a:r>
            <a:r>
              <a:rPr lang="en-IN" sz="2000" b="0" dirty="0" err="1"/>
              <a:t>mBERT</a:t>
            </a:r>
            <a:r>
              <a:rPr lang="en-IN" sz="2000" b="0" dirty="0"/>
              <a:t>/XLM-</a:t>
            </a:r>
            <a:r>
              <a:rPr lang="en-IN" sz="2000" b="0" dirty="0" err="1"/>
              <a:t>RoBERTa</a:t>
            </a:r>
            <a:r>
              <a:rPr lang="en-IN" sz="2000" b="0" dirty="0"/>
              <a:t>) to understand context and accurately detect slang expressions. </a:t>
            </a:r>
            <a:endParaRPr lang="en-IN" sz="2000" b="0" dirty="0"/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0" dirty="0"/>
              <a:t>Converts informal slang and abbreviations into their standard language forms while preserving the original meaning. </a:t>
            </a:r>
            <a:endParaRPr lang="en-IN" sz="2000" b="0" dirty="0"/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0" dirty="0"/>
              <a:t>Improves the quality of multilingual text, enhancing the performance of applications such as chatbots, sentiment analysis, machine translation, and text analytics. </a:t>
            </a:r>
            <a:endParaRPr lang="en-IN" sz="2000" b="0" dirty="0"/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2337" rIns="0" bIns="0" rtlCol="0">
            <a:spAutoFit/>
          </a:bodyPr>
          <a:lstStyle/>
          <a:p>
            <a:pPr marL="18789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endParaRPr spc="-1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39445" y="1599248"/>
            <a:ext cx="10975975" cy="470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/>
              <a:t>Code-mixing is the practice of using two or more languages within the same sentence or conversation, which is common on social media and messaging platforms. </a:t>
            </a:r>
            <a:endParaRPr lang="en-IN" sz="2000" dirty="0"/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/>
              <a:t>Users frequently use slang, abbreviations, and informal spellings, making it difficult for NLP systems to correctly understand the text. </a:t>
            </a:r>
            <a:endParaRPr lang="en-IN" sz="2000" dirty="0"/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/>
              <a:t>Traditional NLP models often struggle to process code-mixed text due to language switching and non-standard vocabulary. </a:t>
            </a:r>
            <a:endParaRPr lang="en-IN" sz="2000" dirty="0"/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/>
              <a:t>The system converts informal code-mixed text into a standardized form while preserving the original meaning and named entities. </a:t>
            </a:r>
            <a:endParaRPr lang="en-IN" sz="2000" dirty="0"/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/>
              <a:t>The proposed approach enhances the accuracy of downstream NLP applications such as sentiment analysis, chatbots, machine translation, and text classification. 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43200" y="548878"/>
            <a:ext cx="7416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4080" marR="5080" indent="-215201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55" dirty="0"/>
              <a:t> </a:t>
            </a:r>
            <a:r>
              <a:rPr dirty="0"/>
              <a:t>STATEMENT</a:t>
            </a:r>
            <a:endParaRPr spc="-1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0" y="1880870"/>
            <a:ext cx="9214485" cy="4554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users frequently communicate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code-mixed languages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slang, abbreviations, and non-standard spellings.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NLP systems struggle to understand such text due to language switching and informal vocabulary.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reduce the accuracy of downstream NLP tasks such as sentiment analysis, machine translation, and chatbot responses.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intelligent system that can accurately detect and normalize code-mixed slang while preserving context and named entities using advanced Transformer-based NLP techniques.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n orange question mark in the middle of a thought bubble with a white cloud above 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2057400"/>
            <a:ext cx="1921510" cy="3580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1" y="191625"/>
            <a:ext cx="628068" cy="7582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9231" y="191626"/>
            <a:ext cx="875113" cy="7582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67200" y="321532"/>
            <a:ext cx="392984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OBJECTIVES</a:t>
            </a:r>
            <a:endParaRPr sz="32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71195" y="1817688"/>
            <a:ext cx="8904605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slang words in code-mixed multilingual text.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language of each word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Identification (LID)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and preserve named entities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(NER)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normalize slang words into their standard language equivalents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NLP models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the performance of NLP applications such as sentiment analysis, chatbots, machine translation, and text classification.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b="12635"/>
          <a:stretch>
            <a:fillRect/>
          </a:stretch>
        </p:blipFill>
        <p:spPr>
          <a:xfrm>
            <a:off x="9702800" y="1906270"/>
            <a:ext cx="2430780" cy="3428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8447" y="7605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18915" y="191527"/>
            <a:ext cx="8460105" cy="1050818"/>
          </a:xfrm>
          <a:prstGeom prst="rect">
            <a:avLst/>
          </a:prstGeom>
        </p:spPr>
        <p:txBody>
          <a:bodyPr vert="horz" wrap="square" lIns="0" tIns="431055" rIns="0" bIns="0" rtlCol="0">
            <a:spAutoFit/>
          </a:bodyPr>
          <a:lstStyle/>
          <a:p>
            <a:pPr marL="2372995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LITERATURE REVIEW</a:t>
            </a:r>
            <a:endParaRPr spc="-10" dirty="0"/>
          </a:p>
        </p:txBody>
      </p:sp>
      <p:sp>
        <p:nvSpPr>
          <p:cNvPr id="7" name="AutoShape 2" descr="Output imag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8" name="AutoShape 4" descr="Output image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19100" y="3982492"/>
            <a:ext cx="11353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655" y="1447800"/>
          <a:ext cx="12000865" cy="5370830"/>
        </p:xfrm>
        <a:graphic>
          <a:graphicData uri="http://schemas.openxmlformats.org/drawingml/2006/table">
            <a:tbl>
              <a:tblPr/>
              <a:tblGrid>
                <a:gridCol w="2363470"/>
                <a:gridCol w="2364105"/>
                <a:gridCol w="2362835"/>
                <a:gridCol w="2363470"/>
                <a:gridCol w="2546985"/>
              </a:tblGrid>
              <a:tr h="615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</a:t>
                      </a:r>
                      <a:r>
                        <a:rPr lang="en-US" alt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dings</a:t>
                      </a:r>
                      <a:endParaRPr lang="en-US" altLang="en-I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Solorio et al. (2022)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 of Code-Mixed Language Processing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Identification using statistical models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of languages in code-mixed text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handling of slang and informal expressions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Devlin et al. (2024)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BERT: Pre-training of Deep Bidirectional Transformers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contextual language model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state-of-the-art performance in various NLP tasks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computational resources and training data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8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Conneau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(2020)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XLM-RoBERTa: Cross-Lingual Language Model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Transformer model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multilingual text understanding and cross-language learning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decreases on low-resource languages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Akbik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(2023)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FLAIR: Contextual String Embeddings for NER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Named Entity Recognition using contextual embeddings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in recognizing named entities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effective on noisy social media text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et al. (2020)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Slang Normalization using Deep Learning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with contextual embeddings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normalization of slang and abbreviations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support for complex code-mixed multilingual text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308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Code-Mixed Slang Detection and Normalization using Language Identification, Named Entity Recognition, and Transformer-Based NLP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Identification + NER + Transformer-based NLP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code-mixed slang, preserves named entities, and normalizes text with high contextual accuracy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Aims to improve multilingual NLP applications and overcome existing limitations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656" marR="48656" marT="24328" marB="243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 descr="Output imag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8" name="AutoShape 4" descr="Output image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19100" y="3982492"/>
            <a:ext cx="11353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75" y="222885"/>
            <a:ext cx="11890375" cy="6343015"/>
          </a:xfrm>
          <a:prstGeom prst="rect">
            <a:avLst/>
          </a:prstGeom>
        </p:spPr>
      </p:pic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83185"/>
            <a:ext cx="534035" cy="732790"/>
          </a:xfrm>
          <a:prstGeom prst="rect">
            <a:avLst/>
          </a:prstGeom>
        </p:spPr>
      </p:pic>
      <p:pic>
        <p:nvPicPr>
          <p:cNvPr id="9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53800" y="228600"/>
            <a:ext cx="807085" cy="441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00" y="305426"/>
            <a:ext cx="8991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3595" marR="5080" indent="-811530" algn="ctr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MODULE 1: Text Preprocessing and Code-Mixed Language Identification using Tokenization, </a:t>
            </a:r>
            <a:r>
              <a:rPr lang="en-IN" sz="2400" dirty="0" err="1"/>
              <a:t>Stopword</a:t>
            </a:r>
            <a:r>
              <a:rPr lang="en-IN" sz="2400" dirty="0"/>
              <a:t> Removal, and Language Detection</a:t>
            </a:r>
            <a:endParaRPr sz="2400" spc="-1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57352" y="2021390"/>
            <a:ext cx="11453648" cy="489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input 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social media platforms, chat messages, online forums, and multilingual datasets containing code-mixed language.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removing punctuation marks, URLs, emojis, special symbols, repeated characters, and unnecessary white spaces to improve data quality.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 the 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splitting each sentence into individual words or tokens for further linguistic analysis.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language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each token using Language Identification (LID) techniques to classify words into languages such as English, Hindi, Tamil, Telugu, etc.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cleaned, tokenized, and language-tagged dataset that serves as the input for slang detection and named entity recognition.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974142" cy="1234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2157" y="83363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00" y="305426"/>
            <a:ext cx="8991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3595" marR="5080" indent="-811530" algn="ctr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MODULE 1: Text Preprocessing and Code-Mixed Language Identification using Tokenization, </a:t>
            </a:r>
            <a:r>
              <a:rPr lang="en-IN" sz="2400" dirty="0" err="1"/>
              <a:t>Stopword</a:t>
            </a:r>
            <a:r>
              <a:rPr lang="en-IN" sz="2400" dirty="0"/>
              <a:t> Removal, and Language Detection</a:t>
            </a:r>
            <a:endParaRPr sz="2400" spc="-1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600200"/>
            <a:ext cx="103479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2374" y="413689"/>
            <a:ext cx="880195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MODULE 2: Slang Detection and Named Entity Recognition using Lexicon-Based Methods, NER Models, and Context Analysis</a:t>
            </a:r>
            <a:endParaRPr sz="2400" spc="-1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59358" y="3691429"/>
            <a:ext cx="114749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57835" y="1944688"/>
            <a:ext cx="10816590" cy="4677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slang words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comparing tokens with predefined slang dictionaries and multilingual lexical resources.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abbreviations, internet slang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rule-based techniques and machine learning models.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Named Entity Recognition (NER)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names of persons, organizations, locations, dates, and other important entities within the text.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surrounding context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distinguish slang words from named entities and ensure accurate classification.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annotated text with language labels, detected slang terms, and recognized named entities for the normalization stage.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2374" y="413689"/>
            <a:ext cx="880195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MODULE 2: Slang Detection and Named Entity Recognition using Lexicon-Based Methods, NER Models, and Context Analysis</a:t>
            </a:r>
            <a:endParaRPr sz="2400" spc="-1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59358" y="3691429"/>
            <a:ext cx="114749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676400"/>
            <a:ext cx="96469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5176" y="229023"/>
            <a:ext cx="90664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MODULE 3: Slang Normalization using Transformer-Based NLP Models and Context-Aware Language Processing</a:t>
            </a:r>
            <a:endParaRPr sz="2400" spc="-1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74345" y="1718310"/>
            <a:ext cx="11031855" cy="5139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detected slang words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mapping them to their standard language equivalents using multilingual slang dictionaries.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Transformer-based NLP models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(such as BERT,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XLM-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understand sentence context and predict the most appropriate replacement words.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named entities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replacing only slang expressions to maintain the original meaning of the sentence.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grammatically correct and standardized 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correcting informal spellings, abbreviations, and code-mixed expressions.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normalized multilingual text that is clear, readable, and suitable for downstream NLP applications.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5176" y="229023"/>
            <a:ext cx="90664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MODULE 3: Slang Normalization using Transformer-Based NLP Models and Context-Aware Language Processing</a:t>
            </a:r>
            <a:endParaRPr sz="2400" spc="-1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05000"/>
            <a:ext cx="10721340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5176" y="533188"/>
            <a:ext cx="906643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MODULE 4: </a:t>
            </a:r>
            <a:r>
              <a:rPr lang="en-US" altLang="en-US" sz="2400" dirty="0"/>
              <a:t>Performance Evaluation, Data Visualization and NLP Application Integration</a:t>
            </a:r>
            <a:endParaRPr lang="en-US" altLang="en-US" sz="24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66800" y="1718538"/>
            <a:ext cx="10363200" cy="5139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proposed slang detection and normalization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using Accuracy, Precision, Recall, and F1-Score.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original and normalized text to measure readability, consistency, and semantic preservation.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NLP performance using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 charts, line graphs, confusion matrices, word clouds, and comparative plots.</a:t>
            </a:r>
            <a:endParaRPr lang="en-US" alt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NLP techniques and visualize slang 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frequency, language distribution, and model performance.</a:t>
            </a:r>
            <a:endParaRPr lang="en-US" alt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efficient and scalable code-mixed slang normalization framework that enhances multilingual NLP performance across real-world applications.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5176" y="229023"/>
            <a:ext cx="906643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lang="en-IN" sz="2400" dirty="0"/>
              <a:t>MODULE 4: </a:t>
            </a:r>
            <a:r>
              <a:rPr lang="en-US" altLang="en-US" sz="2400" dirty="0"/>
              <a:t>Performance Evaluation, Data Visualization and NLP Application Integration</a:t>
            </a:r>
            <a:endParaRPr lang="en-US" alt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35" y="1752600"/>
            <a:ext cx="10514965" cy="48539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57400" y="76200"/>
            <a:ext cx="7469505" cy="1244600"/>
          </a:xfrm>
          <a:prstGeom prst="rect">
            <a:avLst/>
          </a:prstGeom>
        </p:spPr>
        <p:txBody>
          <a:bodyPr vert="horz" wrap="square" lIns="0" tIns="431055" rIns="0" bIns="0" rtlCol="0">
            <a:spAutoFit/>
          </a:bodyPr>
          <a:lstStyle/>
          <a:p>
            <a:pPr marL="23729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  <a:endParaRPr spc="-10" dirty="0"/>
          </a:p>
        </p:txBody>
      </p:sp>
      <p:sp>
        <p:nvSpPr>
          <p:cNvPr id="7" name="AutoShape 2" descr="Output imag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8" name="AutoShape 4" descr="Output image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19100" y="1905397"/>
            <a:ext cx="11353800" cy="4677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effective framework for detecting and normalizing slang in code-mixed multilingual text using advanced NLP techniques.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Language Identification (LID), Named Entity Recognition (NER), and Transformer-based NLP models for accurate text processing.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Preserved the original meaning of sentences while converting informal slang and abbreviations into their standard forms.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the quality, readability, and consistency of multilingual text for better language understanding.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the performance of downstream NLP applications such as sentiment analysis, chatbots, machine translation, and text classification.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57400" y="76200"/>
            <a:ext cx="7469505" cy="1045845"/>
          </a:xfrm>
          <a:prstGeom prst="rect">
            <a:avLst/>
          </a:prstGeom>
        </p:spPr>
        <p:txBody>
          <a:bodyPr vert="horz" wrap="square" lIns="0" tIns="431055" rIns="0" bIns="0" rtlCol="0">
            <a:spAutoFit/>
          </a:bodyPr>
          <a:lstStyle/>
          <a:p>
            <a:pPr marL="2372995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References</a:t>
            </a:r>
            <a:endParaRPr lang="en-US" spc="-10" dirty="0"/>
          </a:p>
        </p:txBody>
      </p:sp>
      <p:sp>
        <p:nvSpPr>
          <p:cNvPr id="7" name="AutoShape 2" descr="Output imag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8" name="AutoShape 4" descr="Output image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19100" y="1828879"/>
            <a:ext cx="11353800" cy="4661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Sheth, R., Sinha, S. R., Patil, M., Beniwal, H., &amp; Singh, M. (2026). Beyond Monolingual Assumptions: A Survey on Code-Switched NLP in the Era of Large Language Models across Modalities. ACL 2026.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Upadhyay, A., Khatri, E., Singh, H. P., Mishra, S. K., &amp; Rai, V. K. (2026). Span-level Target and Harmfulness Detection in Code-mixed Hinglish Using Cross-lingual and Multilingual Transformers. Expert Systems with Applications, 308, 131033.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Takawane, G., Phaltankar, A., Patwardhan, V., Patil, A., Joshi, R., &amp; Takalikar, M. S. (2023). Leveraging Language Identification to Enhance Code-Mixed Text Classification.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Das, R., Ranjan, S., Pathak, S., &amp; Jyothi, P. (2023). Improving Pretraining Techniques for Code-Switched NLP. Proceedings of ACL 2023, 1176–1191.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Rizqullah, R. D., &amp; Budi, I. (2022). Text Normalization on Code-Mixed Twitter Text Using Language Detection. IEEE, 2022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1008" y="2423943"/>
            <a:ext cx="1026350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0" dirty="0"/>
              <a:t>THANK</a:t>
            </a:r>
            <a:r>
              <a:rPr sz="12000" spc="-35" dirty="0"/>
              <a:t> </a:t>
            </a:r>
            <a:r>
              <a:rPr sz="12000" dirty="0"/>
              <a:t>YOU</a:t>
            </a:r>
            <a:r>
              <a:rPr sz="12000" spc="-30" dirty="0"/>
              <a:t> </a:t>
            </a:r>
            <a:r>
              <a:rPr sz="12000" spc="-50" dirty="0"/>
              <a:t>!</a:t>
            </a:r>
            <a:endParaRPr sz="1200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9194</Words>
  <Application>WPS Presentation</Application>
  <PresentationFormat>Widescreen</PresentationFormat>
  <Paragraphs>188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Wingdings</vt:lpstr>
      <vt:lpstr>Times New Roman</vt:lpstr>
      <vt:lpstr>Microsoft YaHei</vt:lpstr>
      <vt:lpstr>Arial Unicode MS</vt:lpstr>
      <vt:lpstr>Calibri</vt:lpstr>
      <vt:lpstr>Office Theme</vt:lpstr>
      <vt:lpstr>DSA0306-NATURAL LANGUAGE PROCESSTING</vt:lpstr>
      <vt:lpstr>ABSTRACT</vt:lpstr>
      <vt:lpstr>INTRODUCTION</vt:lpstr>
      <vt:lpstr>PROBLEM STATEMENT</vt:lpstr>
      <vt:lpstr>OBJECTIVES</vt:lpstr>
      <vt:lpstr>LITERATURE REVIEW</vt:lpstr>
      <vt:lpstr>PowerPoint 演示文稿</vt:lpstr>
      <vt:lpstr>MODULE 1: Text Preprocessing and Code-Mixed Language Identification using Tokenization, Stopword Removal, and Language Detection</vt:lpstr>
      <vt:lpstr>MODULE 1: Text Preprocessing and Code-Mixed Language Identification using Tokenization, Stopword Removal, and Language Detection</vt:lpstr>
      <vt:lpstr>MODULE 2: Slang Detection and Named Entity Recognition using Lexicon-Based Methods, NER Models, and Context Analysis</vt:lpstr>
      <vt:lpstr>MODULE 2: Slang Detection and Named Entity Recognition using Lexicon-Based Methods, NER Models, and Context Analysis</vt:lpstr>
      <vt:lpstr>MODULE 3: Slang Normalization using Transformer-Based NLP Models and Context-Aware Language Processing</vt:lpstr>
      <vt:lpstr>MODULE 3: Slang Normalization using Transformer-Based NLP Models and Context-Aware Language Processing</vt:lpstr>
      <vt:lpstr>MODULE 4: Performance Evaluation, Data Visualization and NLP Application Integration</vt:lpstr>
      <vt:lpstr>MODULE 4: Performance Evaluation, Data Visualization and NLP Application Integration</vt:lpstr>
      <vt:lpstr>CONCLUSION</vt:lpstr>
      <vt:lpstr>References</vt:lpstr>
      <vt:lpstr>THANK YOU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DSA0306-NATURAL LANGUAGE PROCESSTING</dc:title>
  <dc:creator>AKASH S</dc:creator>
  <cp:lastModifiedBy>ADMIN</cp:lastModifiedBy>
  <cp:revision>32</cp:revision>
  <dcterms:created xsi:type="dcterms:W3CDTF">2026-02-09T08:59:00Z</dcterms:created>
  <dcterms:modified xsi:type="dcterms:W3CDTF">2026-09-01T08:52:44Z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2026-02-09T16:30:00Z</vt:filetime>
  </property>
  <property fmtid="{D5CDD505-2E9C-101B-9397-08002B2CF9AE}" pid="3" name="Creator">
    <vt:lpwstr>Google</vt:lpwstr>
  </property>
  <property fmtid="{D5CDD505-2E9C-101B-9397-08002B2CF9AE}" pid="4" name="LastSaved">
    <vt:filetime>2026-02-09T16:30:00Z</vt:filetime>
  </property>
  <property fmtid="{D5CDD505-2E9C-101B-9397-08002B2CF9AE}" pid="5" name="KSOProductBuildVer">
    <vt:lpwstr>1033-12.1.0.28485</vt:lpwstr>
  </property>
  <property fmtid="{D5CDD505-2E9C-101B-9397-08002B2CF9AE}" pid="6" name="ICV">
    <vt:lpwstr>B4F9C6C9037B4DC781485FBF68EC5F35_13</vt:lpwstr>
  </property>
</Properties>
</file>