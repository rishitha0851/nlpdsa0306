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663440"/>
            <a:ext cx="914400" cy="45720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663440"/>
            <a:ext cx="640080" cy="73152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4663440"/>
            <a:ext cx="365760" cy="118872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0" y="5394960"/>
            <a:ext cx="274320" cy="82296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852160"/>
            <a:ext cx="822960" cy="18288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5120640"/>
            <a:ext cx="548640" cy="73152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0344" y="5038344"/>
            <a:ext cx="164592" cy="164592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CFE8F3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64824" y="5312664"/>
            <a:ext cx="164592" cy="164592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5769864"/>
            <a:ext cx="164592" cy="164592"/>
          </a:xfrm>
          <a:prstGeom prst="ellipse">
            <a:avLst/>
          </a:prstGeom>
          <a:solidFill>
            <a:srgbClr val="CFE8F3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9144" y="6135624"/>
            <a:ext cx="164592" cy="164592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CFE8F3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CC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Models and Algorithms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rule-based systems to statistical models, neural networks, and transformers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280160" cy="0"/>
          </a:xfrm>
          <a:prstGeom prst="line">
            <a:avLst/>
          </a:prstGeom>
          <a:noFill/>
          <a:ln w="31750">
            <a:solidFill>
              <a:srgbClr val="5CC8E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Evolution of NLP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eras of language modeling, each solving the limits of the one before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11580" y="2720340"/>
            <a:ext cx="8092440" cy="0"/>
          </a:xfrm>
          <a:prstGeom prst="line">
            <a:avLst/>
          </a:prstGeom>
          <a:noFill/>
          <a:ln w="38100">
            <a:solidFill>
              <a:srgbClr val="D7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822960" y="23317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327355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36118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1950s–1980s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395020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Hand-crafted grammars and regex/pattern rules written by linguists.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233172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3520440" y="23317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327355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36118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1990s–2000s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395020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Probabilities learned from corpora: n-grams, HMMs, Naive Bayes.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6217920" y="23317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23560" y="327355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23560" y="36118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395020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word embeddings; RNNs, LSTMs, CNNs model context.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233172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8915400" y="23317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27355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36118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2017–present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95020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Self-attention enables large pretrained models: BERT, GPT, T5.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Statistical Language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probabilities directly from text corpora, before deep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6314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822960" y="22631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03911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N-gram Models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441448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the probability of a word from the previous n-1 words (Markov assumption). Simple, fast, but suffer from data sparsity.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93008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881628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822960" y="38816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65760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Naive Bayes Classifier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4059936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Bayes' theorem with a conditional-independence assumption between features — a strong baseline for text classification and spam filtering.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11496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500116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822960" y="550011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5276088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Markov Models (HMM)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678424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a sequence of observations as generated by hidden states with transition probabilities — foundational for POS tagging and speech recognition.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Sequence Labeling Algorithms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Assigning a label to every token in a sequence — e.g. part-of-speech tagging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08176" y="196596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1408176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53996" y="251460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26974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26974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28416" y="196596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</p:spPr>
      </p:sp>
      <p:sp>
        <p:nvSpPr>
          <p:cNvPr id="10" name="Text 8"/>
          <p:cNvSpPr/>
          <p:nvPr/>
        </p:nvSpPr>
        <p:spPr>
          <a:xfrm>
            <a:off x="3328416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74236" y="251460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8416" y="26974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6974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48656" y="196596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</p:spPr>
      </p:sp>
      <p:sp>
        <p:nvSpPr>
          <p:cNvPr id="15" name="Text 13"/>
          <p:cNvSpPr/>
          <p:nvPr/>
        </p:nvSpPr>
        <p:spPr>
          <a:xfrm>
            <a:off x="5248656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4476" y="251460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48656" y="26974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26974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68896" y="196596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</p:spPr>
      </p:sp>
      <p:sp>
        <p:nvSpPr>
          <p:cNvPr id="20" name="Text 18"/>
          <p:cNvSpPr/>
          <p:nvPr/>
        </p:nvSpPr>
        <p:spPr>
          <a:xfrm>
            <a:off x="7168896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14716" y="251460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68896" y="26974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26974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89136" y="196596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</p:spPr>
      </p:sp>
      <p:sp>
        <p:nvSpPr>
          <p:cNvPr id="25" name="Text 23"/>
          <p:cNvSpPr/>
          <p:nvPr/>
        </p:nvSpPr>
        <p:spPr>
          <a:xfrm>
            <a:off x="9089136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arrow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34956" y="251460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89136" y="26974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89136" y="26974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NOUN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EEF3F6"/>
          </a:solidFill>
        </p:spPr>
      </p:sp>
      <p:sp>
        <p:nvSpPr>
          <p:cNvPr id="30" name="Text 28"/>
          <p:cNvSpPr/>
          <p:nvPr/>
        </p:nvSpPr>
        <p:spPr>
          <a:xfrm>
            <a:off x="822960" y="397764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Markov Model (HMM)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4480560" y="399592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</p:sp>
      <p:sp>
        <p:nvSpPr>
          <p:cNvPr id="32" name="Text 30"/>
          <p:cNvSpPr/>
          <p:nvPr/>
        </p:nvSpPr>
        <p:spPr>
          <a:xfrm>
            <a:off x="4480560" y="3995928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480560"/>
            <a:ext cx="48006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joint probability P(words, tags)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Assumes each tag depends only on the previous tag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to train; limited use of overlapping features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63640" y="379476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E7F1EF"/>
          </a:solidFill>
        </p:spPr>
      </p:sp>
      <p:sp>
        <p:nvSpPr>
          <p:cNvPr id="35" name="Text 33"/>
          <p:cNvSpPr/>
          <p:nvPr/>
        </p:nvSpPr>
        <p:spPr>
          <a:xfrm>
            <a:off x="6537960" y="397764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Random Field (CRF)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10195560" y="399592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37" name="Text 35"/>
          <p:cNvSpPr/>
          <p:nvPr/>
        </p:nvSpPr>
        <p:spPr>
          <a:xfrm>
            <a:off x="10195560" y="3995928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Discriminative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4480560"/>
            <a:ext cx="48006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conditional probability P(tags | words) directly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Freely combines overlapping, rich feature sets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Typically outperforms HMM on tagging benchmarks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Decoding: </a:t>
            </a: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Viterbi algorithm finds the single most probable tag sequence in O(n·k²) time using dynamic programming, for both HMMs and CRFs.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Neural Network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representations replace hand-built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85623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Recurrent Neural Network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Processes tokens sequentially, passing a hidden state forward through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LSTM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90779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Short-Term Memory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17320" y="322783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Gated RNN variant that retains context over long sequences, avoiding vanishing gradients.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9593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Gated Recurrent Unit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27939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simplified, faster gated alternative to LSTM with comparable performance.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29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501091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Convolutional Neural Network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533095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Slides filters over word windows to capture local n-gram-like patterns efficiently.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920240"/>
            <a:ext cx="4937760" cy="4114800"/>
          </a:xfrm>
          <a:prstGeom prst="roundRect">
            <a:avLst>
              <a:gd name="adj" fmla="val 2222"/>
            </a:avLst>
          </a:prstGeom>
          <a:solidFill>
            <a:srgbClr val="21295C"/>
          </a:solidFill>
        </p:spPr>
      </p:sp>
      <p:sp>
        <p:nvSpPr>
          <p:cNvPr id="21" name="Text 19"/>
          <p:cNvSpPr/>
          <p:nvPr/>
        </p:nvSpPr>
        <p:spPr>
          <a:xfrm>
            <a:off x="6949440" y="2148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C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Unrolled Sequence Model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00900" y="493776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</p:spPr>
      </p:sp>
      <p:sp>
        <p:nvSpPr>
          <p:cNvPr id="23" name="Text 21"/>
          <p:cNvSpPr/>
          <p:nvPr/>
        </p:nvSpPr>
        <p:spPr>
          <a:xfrm>
            <a:off x="7200900" y="493776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00900" y="388620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5CC8E0"/>
          </a:solidFill>
        </p:spPr>
      </p:sp>
      <p:sp>
        <p:nvSpPr>
          <p:cNvPr id="25" name="Text 23"/>
          <p:cNvSpPr/>
          <p:nvPr/>
        </p:nvSpPr>
        <p:spPr>
          <a:xfrm>
            <a:off x="7200900" y="388620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00900" y="283464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CFE8F3"/>
          </a:solidFill>
        </p:spPr>
      </p:sp>
      <p:sp>
        <p:nvSpPr>
          <p:cNvPr id="27" name="Text 25"/>
          <p:cNvSpPr/>
          <p:nvPr/>
        </p:nvSpPr>
        <p:spPr>
          <a:xfrm>
            <a:off x="7200900" y="283464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80960" y="4526280"/>
            <a:ext cx="0" cy="411480"/>
          </a:xfrm>
          <a:prstGeom prst="line">
            <a:avLst/>
          </a:prstGeom>
          <a:noFill/>
          <a:ln w="19050">
            <a:solidFill>
              <a:srgbClr val="CFE8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3474720"/>
            <a:ext cx="0" cy="411480"/>
          </a:xfrm>
          <a:prstGeom prst="line">
            <a:avLst/>
          </a:prstGeom>
          <a:noFill/>
          <a:ln w="19050">
            <a:solidFill>
              <a:srgbClr val="CFE8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61020" y="4206240"/>
            <a:ext cx="502920" cy="0"/>
          </a:xfrm>
          <a:prstGeom prst="line">
            <a:avLst/>
          </a:prstGeom>
          <a:noFill/>
          <a:ln w="25400">
            <a:solidFill>
              <a:srgbClr val="5CC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63940" y="493776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</p:spPr>
      </p:sp>
      <p:sp>
        <p:nvSpPr>
          <p:cNvPr id="32" name="Text 30"/>
          <p:cNvSpPr/>
          <p:nvPr/>
        </p:nvSpPr>
        <p:spPr>
          <a:xfrm>
            <a:off x="8663940" y="493776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63940" y="388620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5CC8E0"/>
          </a:solidFill>
        </p:spPr>
      </p:sp>
      <p:sp>
        <p:nvSpPr>
          <p:cNvPr id="34" name="Text 32"/>
          <p:cNvSpPr/>
          <p:nvPr/>
        </p:nvSpPr>
        <p:spPr>
          <a:xfrm>
            <a:off x="8663940" y="388620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63940" y="283464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CFE8F3"/>
          </a:solidFill>
        </p:spPr>
      </p:sp>
      <p:sp>
        <p:nvSpPr>
          <p:cNvPr id="36" name="Text 34"/>
          <p:cNvSpPr/>
          <p:nvPr/>
        </p:nvSpPr>
        <p:spPr>
          <a:xfrm>
            <a:off x="8663940" y="283464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0" y="4526280"/>
            <a:ext cx="0" cy="411480"/>
          </a:xfrm>
          <a:prstGeom prst="line">
            <a:avLst/>
          </a:prstGeom>
          <a:noFill/>
          <a:ln w="19050">
            <a:solidFill>
              <a:srgbClr val="CFE8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0" y="3474720"/>
            <a:ext cx="0" cy="411480"/>
          </a:xfrm>
          <a:prstGeom prst="line">
            <a:avLst/>
          </a:prstGeom>
          <a:noFill/>
          <a:ln w="19050">
            <a:solidFill>
              <a:srgbClr val="CFE8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24060" y="4206240"/>
            <a:ext cx="502920" cy="0"/>
          </a:xfrm>
          <a:prstGeom prst="line">
            <a:avLst/>
          </a:prstGeom>
          <a:noFill/>
          <a:ln w="25400">
            <a:solidFill>
              <a:srgbClr val="5CC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26980" y="493776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</p:spPr>
      </p:sp>
      <p:sp>
        <p:nvSpPr>
          <p:cNvPr id="41" name="Text 39"/>
          <p:cNvSpPr/>
          <p:nvPr/>
        </p:nvSpPr>
        <p:spPr>
          <a:xfrm>
            <a:off x="10126980" y="493776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126980" y="388620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5CC8E0"/>
          </a:solidFill>
        </p:spPr>
      </p:sp>
      <p:sp>
        <p:nvSpPr>
          <p:cNvPr id="43" name="Text 41"/>
          <p:cNvSpPr/>
          <p:nvPr/>
        </p:nvSpPr>
        <p:spPr>
          <a:xfrm>
            <a:off x="10126980" y="388620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126980" y="283464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CFE8F3"/>
          </a:solidFill>
        </p:spPr>
      </p:sp>
      <p:sp>
        <p:nvSpPr>
          <p:cNvPr id="45" name="Text 43"/>
          <p:cNvSpPr/>
          <p:nvPr/>
        </p:nvSpPr>
        <p:spPr>
          <a:xfrm>
            <a:off x="10126980" y="283464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607040" y="4526280"/>
            <a:ext cx="0" cy="411480"/>
          </a:xfrm>
          <a:prstGeom prst="line">
            <a:avLst/>
          </a:prstGeom>
          <a:noFill/>
          <a:ln w="19050">
            <a:solidFill>
              <a:srgbClr val="CFE8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07040" y="3474720"/>
            <a:ext cx="0" cy="411480"/>
          </a:xfrm>
          <a:prstGeom prst="line">
            <a:avLst/>
          </a:prstGeom>
          <a:noFill/>
          <a:ln w="19050">
            <a:solidFill>
              <a:srgbClr val="CF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5806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state ht carries context from ht-1 to ht+1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67410" y="607060"/>
            <a:ext cx="9780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/>
              <a:t>GEO TAG</a:t>
            </a:r>
            <a:endParaRPr lang="en-IN" altLang="en-US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0" y="849630"/>
            <a:ext cx="7277100" cy="5158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Transformers &amp; Attention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Self-attention lets every token weigh every other token, in parallel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</p:spPr>
      </p:sp>
      <p:sp>
        <p:nvSpPr>
          <p:cNvPr id="5" name="Text 3"/>
          <p:cNvSpPr/>
          <p:nvPr/>
        </p:nvSpPr>
        <p:spPr>
          <a:xfrm>
            <a:off x="1280160" y="210312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21031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3840480" y="210312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3D8FA6"/>
          </a:solidFill>
        </p:spPr>
      </p:sp>
      <p:sp>
        <p:nvSpPr>
          <p:cNvPr id="9" name="Text 7"/>
          <p:cNvSpPr/>
          <p:nvPr/>
        </p:nvSpPr>
        <p:spPr>
          <a:xfrm>
            <a:off x="6400800" y="210312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57400" y="2788920"/>
            <a:ext cx="2560320" cy="502920"/>
          </a:xfrm>
          <a:prstGeom prst="line">
            <a:avLst/>
          </a:prstGeom>
          <a:noFill/>
          <a:ln w="19050">
            <a:solidFill>
              <a:srgbClr val="B9C4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788920"/>
            <a:ext cx="0" cy="502920"/>
          </a:xfrm>
          <a:prstGeom prst="line">
            <a:avLst/>
          </a:prstGeom>
          <a:noFill/>
          <a:ln w="19050">
            <a:solidFill>
              <a:srgbClr val="B9C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788920"/>
            <a:ext cx="2560320" cy="502920"/>
          </a:xfrm>
          <a:prstGeom prst="line">
            <a:avLst/>
          </a:prstGeom>
          <a:noFill/>
          <a:ln w="19050">
            <a:solidFill>
              <a:srgbClr val="B9C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3291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</p:spPr>
      </p:sp>
      <p:sp>
        <p:nvSpPr>
          <p:cNvPr id="14" name="Text 12"/>
          <p:cNvSpPr/>
          <p:nvPr/>
        </p:nvSpPr>
        <p:spPr>
          <a:xfrm>
            <a:off x="3703320" y="32918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Weights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(softmax of Q·Kᵀ)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4069080"/>
            <a:ext cx="0" cy="502920"/>
          </a:xfrm>
          <a:prstGeom prst="line">
            <a:avLst/>
          </a:prstGeom>
          <a:noFill/>
          <a:ln w="19050">
            <a:solidFill>
              <a:srgbClr val="B9C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457200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5CC8E0"/>
          </a:solidFill>
        </p:spPr>
      </p:sp>
      <p:sp>
        <p:nvSpPr>
          <p:cNvPr id="17" name="Text 15"/>
          <p:cNvSpPr/>
          <p:nvPr/>
        </p:nvSpPr>
        <p:spPr>
          <a:xfrm>
            <a:off x="3154680" y="45720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Context Vector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55280" y="214884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Multi-head attention </a:t>
            </a: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several attention operations in parallel, letting the model capture different types of relationships at once.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55280" y="34290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recurrence </a:t>
            </a: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means tokens are processed in parallel, making transformers far faster to train on large corpora than RNNs.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E7F1EF"/>
          </a:solidFill>
        </p:spPr>
      </p:sp>
      <p:sp>
        <p:nvSpPr>
          <p:cNvPr id="21" name="Text 19"/>
          <p:cNvSpPr/>
          <p:nvPr/>
        </p:nvSpPr>
        <p:spPr>
          <a:xfrm>
            <a:off x="777240" y="52120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57784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encoder, pretrained via masked language modeling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507492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EEF3F6"/>
          </a:solidFill>
        </p:spPr>
      </p:sp>
      <p:sp>
        <p:nvSpPr>
          <p:cNvPr id="24" name="Text 22"/>
          <p:cNvSpPr/>
          <p:nvPr/>
        </p:nvSpPr>
        <p:spPr>
          <a:xfrm>
            <a:off x="4572000" y="52120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557784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Autoregressive decoder, pretrained to predict the next token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507492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E7F1EF"/>
          </a:solidFill>
        </p:spPr>
      </p:sp>
      <p:sp>
        <p:nvSpPr>
          <p:cNvPr id="27" name="Text 25"/>
          <p:cNvSpPr/>
          <p:nvPr/>
        </p:nvSpPr>
        <p:spPr>
          <a:xfrm>
            <a:off x="8366760" y="52120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6760" y="557784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Encoder-decoder framing every task as text-to-text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a model is a trade-off between interpretability, data needs, and accuracy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  <a:gridCol w="2834640"/>
                <a:gridCol w="265176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Approach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Core Idea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For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Statistical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Probabilities from corpus counts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N-grams, HMM, Naive Bayes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Small data, interpretability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Sequence Labeling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prediction over sequences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HMM, CRF, Viterbi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Tagging, entity recognition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Neural Networks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Learned dense representations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RNN, LSTM, GRU, CNN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data, sequential context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Transformers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Parallel self-attention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BERT, GPT, T5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Large data, state-of-the-art accuracy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C8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3519</Words>
  <Application>WPS Presentation</Application>
  <PresentationFormat>On-screen Show (16:9)</PresentationFormat>
  <Paragraphs>235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Rishitha Makam</cp:lastModifiedBy>
  <cp:revision>4</cp:revision>
  <dcterms:created xsi:type="dcterms:W3CDTF">2026-07-16T03:33:00Z</dcterms:created>
  <dcterms:modified xsi:type="dcterms:W3CDTF">2026-07-16T04:01:40Z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891926450FDE45E7BC322AF983758F2A_13</vt:lpwstr>
  </property>
  <property fmtid="{D5CDD505-2E9C-101B-9397-08002B2CF9AE}" pid="3" name="KSOProductBuildVer">
    <vt:lpwstr>1033-12.1.0.26880</vt:lpwstr>
  </property>
</Properties>
</file>